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097280"/>
            <a:ext cx="5120640" cy="36576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ACADEMIC HONOURS PROJECT  |  URK23CS1274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Segoe UI"/>
              </a:defRPr>
            </a:pPr>
            <a:r>
              <a:t>MODULAR-AGENT</a:t>
            </a:r>
          </a:p>
          <a:p>
            <a:pPr>
              <a:spcBef>
                <a:spcPts val="800"/>
              </a:spcBef>
              <a:defRPr sz="2200" b="1">
                <a:solidFill>
                  <a:srgbClr val="0EA5E9"/>
                </a:solidFill>
                <a:latin typeface="Segoe UI"/>
              </a:defRPr>
            </a:pPr>
            <a:r>
              <a:t>Decoupled Predictive Machine Learning to LLM Agent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931920"/>
            <a:ext cx="106984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300" b="1">
                <a:solidFill>
                  <a:srgbClr val="10B981"/>
                </a:solidFill>
              </a:defRPr>
            </a:pPr>
            <a:r>
              <a:t>Core Architectural Philosophy: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Strictly isolating probabilistic LLM cognitive routing from deterministic mathematical model execution. Transforms arbitrary Scikit-learn estimators (.joblib) and REST APIs into self-correcting, auditable tools with dynamic Pydantic schema synthesis and zero mock dependencies.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577840"/>
            <a:ext cx="329184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Local LLM Backend</a:t>
            </a:r>
            <a:br/>
            <a:r>
              <a:t>Ollama (qwen2.5 / llama3.2)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5577840"/>
            <a:ext cx="329184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Predictive Backends</a:t>
            </a:r>
            <a:br/>
            <a:r>
              <a:t>Scikit-learn (.joblib) + REST APIs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5577840"/>
            <a:ext cx="3291840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F8FAFC"/>
                </a:solidFill>
              </a:defRPr>
            </a:pPr>
            <a:r>
              <a:t>Test Suite Verification</a:t>
            </a:r>
            <a:br/>
            <a:r>
              <a:t>110/110 Pytest Passed (100%)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PROJECT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Context &amp; Motivation: The AI Agent Paradigm Shift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0EA5E9"/>
                </a:solidFill>
              </a:defRPr>
            </a:pPr>
            <a:r>
              <a:t>1. Cognitive Reasoning (LLMs)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Natural Dialogue: </a:t>
            </a:r>
            <a:r>
              <a:rPr b="0" sz="1100">
                <a:solidFill>
                  <a:srgbClr val="F8FAFC"/>
                </a:solidFill>
                <a:latin typeface="Segoe UI"/>
              </a:rPr>
              <a:t>Understands messy human intent and contextual nuances.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Task Planning: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Decomposes complex, multi-step queries into action plans.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Synthesized Answers: </a:t>
            </a:r>
            <a:r>
              <a:rPr b="0" sz="1100">
                <a:solidFill>
                  <a:srgbClr val="F8FAFC"/>
                </a:solidFill>
                <a:latin typeface="Segoe UI"/>
              </a:rPr>
              <a:t>Translates raw analytical outputs into actionable explanations.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EF4444"/>
                </a:solidFill>
                <a:latin typeface="Segoe UI"/>
              </a:rPr>
              <a:t>•  The Fatal Flaw: </a:t>
            </a:r>
            <a:r>
              <a:rPr b="0" sz="1100">
                <a:solidFill>
                  <a:srgbClr val="F8FAFC"/>
                </a:solidFill>
                <a:latin typeface="Segoe UI"/>
              </a:rPr>
              <a:t>LLMs are probabilistic next-token predictors. They hallucinate numbers and cannot do exact math.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10B981"/>
                </a:solidFill>
              </a:defRPr>
            </a:pPr>
            <a:r>
              <a:t>2. Deterministic ML Models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Mathematical Precision: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Trained statistical algorithms (RandomForest, Logistic Regression, XGBoost).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Sub-Millisecond Inference: </a:t>
            </a:r>
            <a:r>
              <a:rPr b="0" sz="1100">
                <a:solidFill>
                  <a:srgbClr val="F8FAFC"/>
                </a:solidFill>
                <a:latin typeface="Segoe UI"/>
              </a:rPr>
              <a:t>Executes matrix computations in 1–5 ms.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Calibrated Probabilities: </a:t>
            </a:r>
            <a:r>
              <a:rPr b="0" sz="1100">
                <a:solidFill>
                  <a:srgbClr val="F8FAFC"/>
                </a:solidFill>
                <a:latin typeface="Segoe UI"/>
              </a:rPr>
              <a:t>Yields verified confidence scores and risk margins.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F59E0B"/>
                </a:solidFill>
                <a:latin typeface="Segoe UI"/>
              </a:rPr>
              <a:t>•  The Critical Gap: </a:t>
            </a:r>
            <a:r>
              <a:rPr b="0" sz="1100">
                <a:solidFill>
                  <a:srgbClr val="F8FAFC"/>
                </a:solidFill>
                <a:latin typeface="Segoe UI"/>
              </a:rPr>
              <a:t>Models are completely rigid black boxes. They have zero conversational capability.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500" b="1">
                <a:solidFill>
                  <a:srgbClr val="A855F7"/>
                </a:solidFill>
              </a:defRPr>
            </a:pPr>
            <a:r>
              <a:t>3. The Proposed Synergy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The Manager Analogy: </a:t>
            </a:r>
            <a:r>
              <a:rPr b="0" sz="1100">
                <a:solidFill>
                  <a:srgbClr val="F8FAFC"/>
                </a:solidFill>
                <a:latin typeface="Segoe UI"/>
              </a:rPr>
              <a:t>The LLM is the executive Manager (understands requests, assigns work). The ML model is the Accountant with a calculator.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Enforced Boundary: </a:t>
            </a:r>
            <a:r>
              <a:rPr b="0" sz="1100">
                <a:solidFill>
                  <a:srgbClr val="F8FAFC"/>
                </a:solidFill>
                <a:latin typeface="Segoe UI"/>
              </a:rPr>
              <a:t>The LLM is never allowed to guess numbers. It orchestrates the tool; the model calculates the output.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10B981"/>
                </a:solidFill>
                <a:latin typeface="Segoe UI"/>
              </a:rPr>
              <a:t>•  Enterprise Ready: </a:t>
            </a:r>
            <a:r>
              <a:rPr b="0" sz="1100">
                <a:solidFill>
                  <a:srgbClr val="F8FAFC"/>
                </a:solidFill>
                <a:latin typeface="Segoe UI"/>
              </a:rPr>
              <a:t>Combines conversational natural language with compliance-grade statistical precision.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THE CORE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Problem Statement: The 4 Bottlenecks in Existing Agent Frameworks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Challenge 1: Manual Boilerplate &amp; Dynamic Schema Absence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Current Pain: </a:t>
            </a:r>
            <a:r>
              <a:rPr b="0" sz="1100">
                <a:solidFill>
                  <a:srgbClr val="F8FAFC"/>
                </a:solidFill>
                <a:latin typeface="Segoe UI"/>
              </a:rPr>
              <a:t>Frameworks like LangChain/CrewAI require developers to hand-code Python wrapper functions and JSON schemas for every single model.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System Risk: </a:t>
            </a:r>
            <a:r>
              <a:rPr b="0" sz="1100">
                <a:solidFill>
                  <a:srgbClr val="F8FAFC"/>
                </a:solidFill>
                <a:latin typeface="Segoe UI"/>
              </a:rPr>
              <a:t>High maintenance overhead, schema drift, and brittle bindings that break during model updates.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21945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EF4444"/>
                </a:solidFill>
              </a:defRPr>
            </a:pPr>
            <a:r>
              <a:t>Challenge 2: The Small-LLM JSON Failure &amp; Crash Loops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Current Pain: </a:t>
            </a:r>
            <a:r>
              <a:rPr b="0" sz="1100">
                <a:solidFill>
                  <a:srgbClr val="F8FAFC"/>
                </a:solidFill>
                <a:latin typeface="Segoe UI"/>
              </a:rPr>
              <a:t>Lightweight edge/offline LLMs (0.5B–3B parameters) frequently produce malformed JSON syntax, invalid keys, or missing arguments.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System Risk: </a:t>
            </a:r>
            <a:r>
              <a:rPr b="0" sz="1100">
                <a:solidFill>
                  <a:srgbClr val="F8FAFC"/>
                </a:solidFill>
                <a:latin typeface="Segoe UI"/>
              </a:rPr>
              <a:t>Triggers fatal runtime unhandled exceptions, stalling agent execution with zero automated self-repair mechanisms.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A855F7"/>
                </a:solidFill>
              </a:defRPr>
            </a:pPr>
            <a:r>
              <a:t>Challenge 3: The Black-Box Hallucination Vulnerability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Current Pain: </a:t>
            </a:r>
            <a:r>
              <a:rPr b="0" sz="1100">
                <a:solidFill>
                  <a:srgbClr val="F8FAFC"/>
                </a:solidFill>
                <a:latin typeface="Segoe UI"/>
              </a:rPr>
              <a:t>Existing agents blend LLM conversational prose with model outputs, obscuring data origins.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System Risk: </a:t>
            </a:r>
            <a:r>
              <a:rPr b="0" sz="1100">
                <a:solidFill>
                  <a:srgbClr val="F8FAFC"/>
                </a:solidFill>
                <a:latin typeface="Segoe UI"/>
              </a:rPr>
              <a:t>In regulated domains (finance, medical), users cannot verify whether a risk score originated from the ML model or was hallucinated by the LLM.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931920"/>
            <a:ext cx="5120640" cy="2286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400" b="1">
                <a:solidFill>
                  <a:srgbClr val="0EA5E9"/>
                </a:solidFill>
              </a:defRPr>
            </a:pPr>
            <a:r>
              <a:t>Challenge 4: Cloud Dependency &amp; Telemetry Data Leaks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Current Pain: </a:t>
            </a:r>
            <a:r>
              <a:rPr b="0" sz="1100">
                <a:solidFill>
                  <a:srgbClr val="F8FAFC"/>
                </a:solidFill>
                <a:latin typeface="Segoe UI"/>
              </a:rPr>
              <a:t>Heavy reliance on proprietary cloud APIs (OpenAI/Anthropic) transmits confidential business data over third-party networks.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System Risk: </a:t>
            </a:r>
            <a:r>
              <a:rPr b="0" sz="1100">
                <a:solidFill>
                  <a:srgbClr val="F8FAFC"/>
                </a:solidFill>
                <a:latin typeface="Segoe UI"/>
              </a:rPr>
              <a:t>Raw debug traces frequently leak API tokens, patient data, and authorization headers in plain text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GOALS &amp;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Project Objectives: Engineering Principles &amp;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0EA5E9"/>
                </a:solidFill>
              </a:defRPr>
            </a:pPr>
            <a:r>
              <a:t>Objective 1: Automated Ingestion &amp; Dynamic Schema Synthesis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Inspect arbitrary Scikit-learn estimators (.joblib/.pkl) and HTTP REST endpoints, dynamically generating Pydantic v2 validation schemas and type-safe wrappers without manual code.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3B82F6"/>
                </a:solidFill>
              </a:defRPr>
            </a:pPr>
            <a:r>
              <a:t>Objective 2: Decoupled Cognitive Architecture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Enforce an architectural boundary separating probabilistic LLM reasoning from deterministic model inference, supporting local Ollama models (0.5B to 8B), hosted APIs, and mock providers.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Objective 3: Bounded Self-Correction &amp; Robust Argument Extraction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Implement a feedback loop that detects validation errors, supplies structured error hints back to the LLM, and utilizes regex-based parameter fallback extraction to guarantee 100% execution success.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F59E0B"/>
                </a:solidFill>
              </a:defRPr>
            </a:pPr>
            <a:r>
              <a:t>Objective 4: Production Auditability &amp; Enterprise Security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Provide millisecond-precision event telemetry for every step (selection, validation, execution) alongside recursive secret sanitization to protect API keys and private payload data.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A855F7"/>
                </a:solidFill>
              </a:defRPr>
            </a:pPr>
            <a:r>
              <a:t>Objective 5: Containerized Deployment &amp; Interactive Interface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Deliver a unified FastAPI REST API, a 5-tab Gradio 6 interactive dashboard, and a one-click Docker/Docker-Compose deployment package generator verified by 110 automated tests.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Proposed Architecture: Complete System Flow Diagram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25880"/>
            <a:ext cx="10728655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Proposed Architecture: The Three Decoupled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0EA5E9"/>
                </a:solidFill>
              </a:defRPr>
            </a:pPr>
            <a:r>
              <a:t>STAGE 1: INGESTION TIER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Artifact Reflection: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Loads .joblib, .pkl, or REST endpoints.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Schema Synthesizer: </a:t>
            </a:r>
            <a:r>
              <a:rPr b="0" sz="1100">
                <a:solidFill>
                  <a:srgbClr val="F8FAFC"/>
                </a:solidFill>
                <a:latin typeface="Segoe UI"/>
              </a:rPr>
              <a:t>Generates Pydantic v2 schemas at runtime.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Callable Wrapper: </a:t>
            </a:r>
            <a:r>
              <a:rPr b="0" sz="1100">
                <a:solidFill>
                  <a:srgbClr val="F8FAFC"/>
                </a:solidFill>
                <a:latin typeface="Segoe UI"/>
              </a:rPr>
              <a:t>Encapsulates model inside validated wrapper.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Tool Registry: </a:t>
            </a:r>
            <a:r>
              <a:rPr b="0" sz="1100">
                <a:solidFill>
                  <a:srgbClr val="F8FAFC"/>
                </a:solidFill>
                <a:latin typeface="Segoe UI"/>
              </a:rPr>
              <a:t>Centralized inventory of ready-to-call tools.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3B82F6"/>
                </a:solidFill>
              </a:defRPr>
            </a:pPr>
            <a:r>
              <a:t>STAGE 2: COGNITIVE TIER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Agent Orchestrator: </a:t>
            </a:r>
            <a:r>
              <a:rPr b="0" sz="1100">
                <a:solidFill>
                  <a:srgbClr val="F8FAFC"/>
                </a:solidFill>
                <a:latin typeface="Segoe UI"/>
              </a:rPr>
              <a:t>Dispatches user query to LLM provider.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Ollama / LLM Provider: </a:t>
            </a:r>
            <a:r>
              <a:rPr b="0" sz="1100">
                <a:solidFill>
                  <a:srgbClr val="F8FAFC"/>
                </a:solidFill>
                <a:latin typeface="Segoe UI"/>
              </a:rPr>
              <a:t>Cognitive routing (selects tool &amp; args).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Bounded Self-Correction: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Validates inputs; repairs errors automatically.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Conversational Memory: </a:t>
            </a:r>
            <a:r>
              <a:rPr b="0" sz="1100">
                <a:solidFill>
                  <a:srgbClr val="F8FAFC"/>
                </a:solidFill>
                <a:latin typeface="Segoe UI"/>
              </a:rPr>
              <a:t>Maintains multi-turn context per session.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32918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10B981"/>
                </a:solidFill>
              </a:defRPr>
            </a:pPr>
            <a:r>
              <a:t>STAGE 3: AUDIT &amp; DELIVERY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Execution Tracer: </a:t>
            </a:r>
            <a:r>
              <a:rPr b="0" sz="1100">
                <a:solidFill>
                  <a:srgbClr val="F8FAFC"/>
                </a:solidFill>
                <a:latin typeface="Segoe UI"/>
              </a:rPr>
              <a:t>ISO timestamps, durations (ms), status codes.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Secret Sanitizer: </a:t>
            </a:r>
            <a:r>
              <a:rPr b="0" sz="1100">
                <a:solidFill>
                  <a:srgbClr val="F8FAFC"/>
                </a:solidFill>
                <a:latin typeface="Segoe UI"/>
              </a:rPr>
              <a:t>Recursive payload masking (sk-... keys).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Deterministic Callout: </a:t>
            </a:r>
            <a:r>
              <a:rPr b="0" sz="1100">
                <a:solidFill>
                  <a:srgbClr val="F8FAFC"/>
                </a:solidFill>
                <a:latin typeface="Segoe UI"/>
              </a:rPr>
              <a:t>Shows exact model numbers vs LLM text.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Container Generator: </a:t>
            </a:r>
            <a:r>
              <a:rPr b="0" sz="1100">
                <a:solidFill>
                  <a:srgbClr val="F8FAFC"/>
                </a:solidFill>
                <a:latin typeface="Segoe UI"/>
              </a:rPr>
              <a:t>Produces Docker &amp; docker-compose packages.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937760"/>
            <a:ext cx="10698480" cy="13716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300" b="1">
                <a:solidFill>
                  <a:srgbClr val="F59E0B"/>
                </a:solidFill>
              </a:defRPr>
            </a:pPr>
            <a:r>
              <a:t>The Execution Flow &amp; Invariant:</a:t>
            </a:r>
          </a:p>
          <a:p>
            <a:pPr>
              <a:spcAft>
                <a:spcPts val="400"/>
              </a:spcAft>
              <a:defRPr sz="1100" b="1">
                <a:solidFill>
                  <a:srgbClr val="F8FAFC"/>
                </a:solidFill>
              </a:defRPr>
            </a:pPr>
            <a:r>
              <a:t>[User Query] ➔ [Agent Orchestrator] ➔ [Ollama Selects Tool] ➔ [Pydantic Argument Validation] ➔ [Deterministic Model Executed in Sub-ms] ➔ [Output Validated] ➔ [LLM Explains Result] ➔ [Tracer Audits]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Key Invariant: At no point is the LLM allowed to generate predictive outputs directly; it only interprets deterministic model outputs.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STAGE 1 IN-DEPTH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Architectural Deep-Dive: Model Ingestion &amp; Dynamic Schemas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0EA5E9"/>
                </a:solidFill>
              </a:defRPr>
            </a:pPr>
            <a:r>
              <a:t>Dynamic Reflection &amp; Schema Synthesis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Zero-Code Adapter Loading: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Accepts .joblib, .pkl, or remote REST endpoints. Uses reflection to identify estimator capabilities (e.g. predict vs predict_proba).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Pydantic v2 Code Generation: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DynamicSchemaGenerator synthesizes BaseModel classes on-the-fly with strict field typing (float, int, str, list).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OpenAI Tool Spec Conversion: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Automatically converts Pydantic schemas into standard JSON Schema objects required by modern LLM function calling.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Bidirectional Validation: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Validates input arguments before execution AND validates model output format before returning to the LLM.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Callable Tool Wrapper &amp; Registry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CallableToolWrapper: </a:t>
            </a:r>
            <a:r>
              <a:rPr b="0" sz="1100">
                <a:solidFill>
                  <a:srgbClr val="F8FAFC"/>
                </a:solidFill>
                <a:latin typeface="Segoe UI"/>
              </a:rPr>
              <a:t>Encapsulates the raw model with execution timeout guards, error formatting, and input preprocessing.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Centralized ToolRegistry: </a:t>
            </a:r>
            <a:r>
              <a:rPr b="0" sz="1100">
                <a:solidFill>
                  <a:srgbClr val="F8FAFC"/>
                </a:solidFill>
                <a:latin typeface="Segoe UI"/>
              </a:rPr>
              <a:t>Thread-safe repository holding all active tools. Supports dynamic addition, unregistration, and status health queries.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Confidence Normalization: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Extracts class probability margins [0.0, 1.0] across regressors, binary classifiers, and multi-class pipelines.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Contract Customization: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Allows optional manual override of JSON contracts for complex nested microservice payloads.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STAGE 2 IN-DEPTH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Architectural Deep-Dive: Cognitive Orchestration &amp; Bounded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3B82F6"/>
                </a:solidFill>
              </a:defRPr>
            </a:pPr>
            <a:r>
              <a:t>LLM Provider Abstraction &amp; Routing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Unified Provider Interface: </a:t>
            </a:r>
            <a:r>
              <a:rPr b="0" sz="1100">
                <a:solidFill>
                  <a:srgbClr val="F8FAFC"/>
                </a:solidFill>
                <a:latin typeface="Segoe UI"/>
              </a:rPr>
              <a:t>BaseLLMProvider abstracts LLM interactions. The orchestrator is 100% agnostic to the underlying model.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Local Ollama Native: </a:t>
            </a:r>
            <a:r>
              <a:rPr b="0" sz="1100">
                <a:solidFill>
                  <a:srgbClr val="F8FAFC"/>
                </a:solidFill>
                <a:latin typeface="Segoe UI"/>
              </a:rPr>
              <a:t>Connects to local Ollama daemon via OpenAI-compatible endpoints (/v1/chat/completions) with 0 cloud latency or cost.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Hosted Fallback: </a:t>
            </a:r>
            <a:r>
              <a:rPr b="0" sz="1100">
                <a:solidFill>
                  <a:srgbClr val="F8FAFC"/>
                </a:solidFill>
                <a:latin typeface="Segoe UI"/>
              </a:rPr>
              <a:t>Configurable for OpenAI (gpt-4o-mini), DeepSeek, Groq, or vLLM with masked API credentials.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Hermetic Mock Provider: </a:t>
            </a:r>
            <a:r>
              <a:rPr b="0" sz="1100">
                <a:solidFill>
                  <a:srgbClr val="F8FAFC"/>
                </a:solidFill>
                <a:latin typeface="Segoe UI"/>
              </a:rPr>
              <a:t>Provides zero-dependency deterministic simulation for CI/CD test automation.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Self-Correction &amp; Fallback Heuristics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The Self-Correction Loop: </a:t>
            </a:r>
            <a:r>
              <a:rPr b="0" sz="1100">
                <a:solidFill>
                  <a:srgbClr val="F8FAFC"/>
                </a:solidFill>
                <a:latin typeface="Segoe UI"/>
              </a:rPr>
              <a:t>If LLM produces invalid parameters, Pydantic captures the exact field error. The orchestrator re-prompts the LLM with corrective guidance.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Bounded Retry Budget: </a:t>
            </a:r>
            <a:r>
              <a:rPr b="0" sz="1100">
                <a:solidFill>
                  <a:srgbClr val="F8FAFC"/>
                </a:solidFill>
                <a:latin typeface="Segoe UI"/>
              </a:rPr>
              <a:t>Enforces a max retry limit (default: 2) to eliminate infinite recursive loops and control token spend.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Dynamic Fallback Extraction: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When small LLMs (e.g. qwen2.5:0.5b) fail JSON generation, regex extractors dynamically pull integers, floats, and strings from natural language.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Target Tool Selector Override: </a:t>
            </a:r>
            <a:r>
              <a:rPr b="0" sz="1100">
                <a:solidFill>
                  <a:srgbClr val="F8FAFC"/>
                </a:solidFill>
                <a:latin typeface="Segoe UI"/>
              </a:rPr>
              <a:t>Allows user to either let the LLM auto-route or explicitly force routing to a specific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STAGE 3 IN-DEPTH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Architectural Deep-Dive: Observability, Memory &amp; Secret Protection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0EA5E9"/>
                </a:solidFill>
              </a:defRPr>
            </a:pPr>
            <a:r>
              <a:t>Execution Tracer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Granular Telemetry: </a:t>
            </a:r>
            <a:r>
              <a:rPr b="0" sz="1100">
                <a:solidFill>
                  <a:srgbClr val="F8FAFC"/>
                </a:solidFill>
                <a:latin typeface="Segoe UI"/>
              </a:rPr>
              <a:t>Records 6 discrete lifecycle events for every transaction.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High-Precision Timing: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Tracks millisecond durations (duration_ms) for LLM planning vs model inference.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Status Tagging: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Tags events with SUCCESS, INFO, WARNING, or ERROR.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Compliance Logging: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Exports complete JSON audit trails for regulatory compliance.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EF4444"/>
                </a:solidFill>
              </a:defRPr>
            </a:pPr>
            <a:r>
              <a:t>Zero-Leakage Sanitizer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Recursive Sanitization: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Inspects nested dictionaries, lists, and strings before logging.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Key Pattern Matching: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Masks api_key, token, password, authorization, secret, and bearer headers.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Safe Prefix / Suffix: </a:t>
            </a:r>
            <a:r>
              <a:rPr b="0" sz="1100">
                <a:solidFill>
                  <a:srgbClr val="F8FAFC"/>
                </a:solidFill>
                <a:latin typeface="Segoe UI"/>
              </a:rPr>
              <a:t>Masks credentials to sk-...a1b2 format so administrators can identify keys without exposure.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Zero UI Leakage: </a:t>
            </a:r>
            <a:r>
              <a:rPr b="0" sz="1100">
                <a:solidFill>
                  <a:srgbClr val="F8FAFC"/>
                </a:solidFill>
                <a:latin typeface="Segoe UI"/>
              </a:rPr>
              <a:t>Guarantees traces displayed in web UI never leak private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463040"/>
            <a:ext cx="33832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A855F7"/>
                </a:solidFill>
              </a:defRPr>
            </a:pPr>
            <a:r>
              <a:t>Conversational Memory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Session Isolation: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Each user conversation is keyed by unique session_id.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Multi-Turn Context: </a:t>
            </a:r>
            <a:r>
              <a:rPr b="0" sz="1100">
                <a:solidFill>
                  <a:srgbClr val="F8FAFC"/>
                </a:solidFill>
                <a:latin typeface="Segoe UI"/>
              </a:rPr>
              <a:t>Retains user queries, tool results, and assistant replies across turns.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Context Retention: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Enables follow-up questions (e.g. 'Why was that rejected?') without re-invoking models.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Instant Reset: </a:t>
            </a:r>
            <a:r>
              <a:rPr b="0" sz="1100">
                <a:solidFill>
                  <a:srgbClr val="F8FAFC"/>
                </a:solidFill>
                <a:latin typeface="Segoe UI"/>
              </a:rPr>
              <a:t>Memory purge endpoint resets session state cleanly with one click.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SOFTWARE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Implementation Details: Technology Stack &amp; Package Anatomy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0EA5E9"/>
                </a:solidFill>
              </a:defRPr>
            </a:pPr>
            <a:r>
              <a:t>Production Technology Stack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Language &amp; Runtime: </a:t>
            </a:r>
            <a:r>
              <a:rPr b="0" sz="1100">
                <a:solidFill>
                  <a:srgbClr val="F8FAFC"/>
                </a:solidFill>
                <a:latin typeface="Segoe UI"/>
              </a:rPr>
              <a:t>Python 3.12 (strict type hinting, modern typing generics, high performance).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Web Backend: </a:t>
            </a:r>
            <a:r>
              <a:rPr b="0" sz="1100">
                <a:solidFill>
                  <a:srgbClr val="F8FAFC"/>
                </a:solidFill>
                <a:latin typeface="Segoe UI"/>
              </a:rPr>
              <a:t>FastAPI 0.162.0 + Uvicorn 0.30.6 (asynchronous, OpenAPI Swagger auto-docs).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Interactive UI: </a:t>
            </a:r>
            <a:r>
              <a:rPr b="0" sz="1100">
                <a:solidFill>
                  <a:srgbClr val="F8FAFC"/>
                </a:solidFill>
                <a:latin typeface="Segoe UI"/>
              </a:rPr>
              <a:t>Gradio 6.30.0 (Messages format, reactive event listeners, dark theme).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Validation Engine: </a:t>
            </a:r>
            <a:r>
              <a:rPr b="0" sz="1100">
                <a:solidFill>
                  <a:srgbClr val="F8FAFC"/>
                </a:solidFill>
                <a:latin typeface="Segoe UI"/>
              </a:rPr>
              <a:t>Pydantic v2.9.2 + Pydantic-Settings (Rust-backed validation, sub-millisecond execution).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Machine Learning: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Scikit-Learn 1.5.2, NumPy 2.5.4, Joblib 1.6.0.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Local LLM Daemon: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Ollama (qwen2.5:0.5b / llama3.2 running offline via GPU/CPU).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Testing &amp; CI: </a:t>
            </a:r>
            <a:r>
              <a:rPr b="0" sz="1100">
                <a:solidFill>
                  <a:srgbClr val="F8FAFC"/>
                </a:solidFill>
                <a:latin typeface="Segoe UI"/>
              </a:rPr>
              <a:t>Pytest 8.3.3 (110 hermetic unit and integration tests).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Modular Codebase Organization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modular_agent.models: </a:t>
            </a:r>
            <a:r>
              <a:rPr b="0" sz="1100">
                <a:solidFill>
                  <a:srgbClr val="F8FAFC"/>
                </a:solidFill>
                <a:latin typeface="Segoe UI"/>
              </a:rPr>
              <a:t>Adapters: SklearnModelAdapter, RestApiModelAdapter, DemoSentimentModel.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modular_agent.schemas: </a:t>
            </a:r>
            <a:r>
              <a:rPr b="0" sz="1100">
                <a:solidFill>
                  <a:srgbClr val="F8FAFC"/>
                </a:solidFill>
                <a:latin typeface="Segoe UI"/>
              </a:rPr>
              <a:t>Dynamic schema synthesizer &amp; JSON Schema converters.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modular_agent.ingestion: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IngestionEngine, contract validators, and tool registry.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modular_agent.providers: </a:t>
            </a:r>
            <a:r>
              <a:rPr b="0" sz="1100">
                <a:solidFill>
                  <a:srgbClr val="F8FAFC"/>
                </a:solidFill>
                <a:latin typeface="Segoe UI"/>
              </a:rPr>
              <a:t>BaseLLMProvider, OllamaProvider, HostedProvider, MockProvider.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modular_agent.agent: </a:t>
            </a:r>
            <a:r>
              <a:rPr b="0" sz="1100">
                <a:solidFill>
                  <a:srgbClr val="F8FAFC"/>
                </a:solidFill>
                <a:latin typeface="Segoe UI"/>
              </a:rPr>
              <a:t>AgentOrchestrator, ConversationalMemory, and ExecutionTracer.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modular_agent.api &amp; ui: </a:t>
            </a:r>
            <a:r>
              <a:rPr b="0" sz="1100">
                <a:solidFill>
                  <a:srgbClr val="F8FAFC"/>
                </a:solidFill>
                <a:latin typeface="Segoe UI"/>
              </a:rPr>
              <a:t>FastAPI endpoints and 5-tab mounted Gradio interface.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modular_agent.deployment: </a:t>
            </a:r>
            <a:r>
              <a:rPr b="0" sz="1100">
                <a:solidFill>
                  <a:srgbClr val="F8FAFC"/>
                </a:solidFill>
                <a:latin typeface="Segoe UI"/>
              </a:rPr>
              <a:t>Docker &amp; docker-compose automated generator.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DEMONSTRATION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Showcase Deployments: 5 Real-World Predictive 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0EA5E9"/>
                </a:solidFill>
              </a:defRPr>
            </a:pPr>
            <a:r>
              <a:t>🏡 House Price Estimator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Algorithm: RandomForestRegressor  |  Dataset: California Housing Data  |  Inputs: sqft, bedrooms, bathrooms, location_score  ➔  Output: Continuous USD Valuation ($)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💳 Loan Approval Predictor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Algorithm: RandomForestClassifier  |  Dataset: Credit Risk Dataset  |  Inputs: monthly_income, credit_score, loan_amount, debt_to_income  ➔  Output: Approved/Rejected + Probability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A855F7"/>
                </a:solidFill>
              </a:defRPr>
            </a:pPr>
            <a:r>
              <a:t>🎓 Student Performance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Algorithm: RandomForestClassifier  |  Dataset: Academic Outcomes  |  Inputs: study_hours, attendance_rate, previous_grade  ➔  Output: Pass/Fail Outcome + Margin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F59E0B"/>
                </a:solidFill>
              </a:defRPr>
            </a:pPr>
            <a:r>
              <a:t>🩺 Medical Risk Stratifier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Algorithm: RandomForestClassifier  |  Dataset: Wisconsin Breast Cancer  |  Inputs: mean_radius, texture, perimeter, area  ➔  Output: Malignant/Benign + Risk Score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3B82F6"/>
                </a:solidFill>
              </a:defRPr>
            </a:pPr>
            <a:r>
              <a:t>🌐 Remote Transaction API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Algorithm: FastAPI REST Service  |  Dataset: Real-Time Payments  |  Inputs: transaction_id, amount, country  ➔  Output: Approved/Declined + Risk Score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Interactive Web Interface: 5-Tab Gradio 6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0EA5E9"/>
                </a:solidFill>
              </a:defRPr>
            </a:pPr>
            <a:r>
              <a:t>Tab 1: System Dashboard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Displays live operational status, active LLM provider (Ollama), model name, and an interactive inventory of all registered tools with health badges.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10B981"/>
                </a:solidFill>
              </a:defRPr>
            </a:pPr>
            <a:r>
              <a:t>Tab 2: Model Ingestion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Interactive studio supporting .joblib file paths and REST API URLs. Features 1-click showcase presets and live JSON preview of synthesized Pydantic schemas.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3B82F6"/>
                </a:solidFill>
              </a:defRPr>
            </a:pPr>
            <a:r>
              <a:t>Tab 3: Agent Playground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Conversational chat powered by Gradio 6 messages format. Includes quick demonstration buttons and the signature Deterministic Tool Execution Callout Box.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F59E0B"/>
                </a:solidFill>
              </a:defRPr>
            </a:pPr>
            <a:r>
              <a:t>Tab 4: Execution Trace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Real-time chronological timeline showing millisecond execution benchmarks for every lifecycle step with sanitized audit payloads.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  <a:defRPr sz="1300" b="1">
                <a:solidFill>
                  <a:srgbClr val="A855F7"/>
                </a:solidFill>
              </a:defRPr>
            </a:pPr>
            <a:r>
              <a:t>Tab 5: Deployment Center</a:t>
            </a:r>
          </a:p>
          <a:p>
            <a:pPr>
              <a:defRPr sz="1050">
                <a:solidFill>
                  <a:srgbClr val="94A3B8"/>
                </a:solidFill>
              </a:defRPr>
            </a:pPr>
            <a:r>
              <a:t>Containerization studio allowing users to configure app ports and generate downloadable Dockerfile &amp; docker-compose production packages.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EVALUATION &amp; RIGOR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Verification &amp; Test Results: 100% Hermetic Test Coverage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10B981"/>
                </a:solidFill>
              </a:defRPr>
            </a:pPr>
            <a:r>
              <a:t>110 / 110</a:t>
            </a:r>
          </a:p>
          <a:p>
            <a:pPr algn="ctr">
              <a:defRPr sz="1200">
                <a:solidFill>
                  <a:srgbClr val="F8FAFC"/>
                </a:solidFill>
              </a:defRPr>
            </a:pPr>
            <a:r>
              <a:t>Pytest Automated Tests Passed</a:t>
            </a:r>
            <a:br/>
            <a:r>
              <a:t>100% Hermetic Test Suite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146304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0EA5E9"/>
                </a:solidFill>
              </a:defRPr>
            </a:pPr>
            <a:r>
              <a:t>1 – 5 ms</a:t>
            </a:r>
          </a:p>
          <a:p>
            <a:pPr algn="ctr">
              <a:defRPr sz="1200">
                <a:solidFill>
                  <a:srgbClr val="F8FAFC"/>
                </a:solidFill>
              </a:defRPr>
            </a:pPr>
            <a:r>
              <a:t>Deterministic ML Inference</a:t>
            </a:r>
            <a:br/>
            <a:r>
              <a:t>Sub-millisecond local execution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291840" cy="2011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000" b="1">
                <a:solidFill>
                  <a:srgbClr val="A855F7"/>
                </a:solidFill>
              </a:defRPr>
            </a:pPr>
            <a:r>
              <a:t>0% Leakage</a:t>
            </a:r>
          </a:p>
          <a:p>
            <a:pPr algn="ctr">
              <a:defRPr sz="1200">
                <a:solidFill>
                  <a:srgbClr val="F8FAFC"/>
                </a:solidFill>
              </a:defRPr>
            </a:pPr>
            <a:r>
              <a:t>Credential / Secret Masking</a:t>
            </a:r>
            <a:br/>
            <a:r>
              <a:t>Strict regex audit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749039"/>
            <a:ext cx="10698480" cy="2468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0EA5E9"/>
                </a:solidFill>
              </a:defRPr>
            </a:pPr>
            <a:r>
              <a:t>Comprehensive Test Suite Coverage Across All Subsystems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API &amp; UI Layer (17 Tests): </a:t>
            </a:r>
            <a:r>
              <a:rPr b="0" sz="1100">
                <a:solidFill>
                  <a:srgbClr val="F8FAFC"/>
                </a:solidFill>
                <a:latin typeface="Segoe UI"/>
              </a:rPr>
              <a:t>Validates FastAPI endpoints, health check status, and Gradio 6 messages format rendering.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Model Adapters &amp; Ingestion (28 Tests): </a:t>
            </a:r>
            <a:r>
              <a:rPr b="0" sz="1100">
                <a:solidFill>
                  <a:srgbClr val="F8FAFC"/>
                </a:solidFill>
                <a:latin typeface="Segoe UI"/>
              </a:rPr>
              <a:t>Covers Scikit-Learn .joblib loading, feature array verification, and REST API MockTransport error handling.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Agent Cognitive Engine (34 Tests): </a:t>
            </a:r>
            <a:r>
              <a:rPr b="0" sz="1100">
                <a:solidFill>
                  <a:srgbClr val="F8FAFC"/>
                </a:solidFill>
                <a:latin typeface="Segoe UI"/>
              </a:rPr>
              <a:t>Ensures bounded self-correction retries, multi-turn memory isolation, and dynamic parameter fallback parsing.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Security &amp; Deployment (31 Tests): </a:t>
            </a:r>
            <a:r>
              <a:rPr b="0" sz="1100">
                <a:solidFill>
                  <a:srgbClr val="F8FAFC"/>
                </a:solidFill>
                <a:latin typeface="Segoe UI"/>
              </a:rPr>
              <a:t>Verifies path traversal protection, recursive secret sanitization, and container archive integrity.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COMPETITIVE ADVANTAGE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Comparative Analysis: Modular-Agent vs Industry Alternatives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423160"/>
                <a:gridCol w="2423160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Modular-Agent (Our Work)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LangChain / LangGraph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CrewAI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Model Ingestion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Automated (Zero-code .joblib/REST)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Manual Python wrapper required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Manual custom tool code required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Deterministic Boundary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Enforced (Strict callout isolation)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Weak (Outputs blended in LLM text)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Weak (Outputs blended in prose)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Small LLM Self-Repair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Built-in (Bounded retry + regex fallback)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Fails or throws raw parsing exceptions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Frequently loops on JSON failures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Telemetry &amp; Secret Audit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Granular (ms duration, 100% sanitized)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Requires 3rd-party LangSmith cloud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Basic stdout logging (unmasked)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Local Offline Operation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Native Ollama first-class citizen</a:t>
                      </a:r>
                    </a:p>
                  </a:txBody>
                  <a:tcPr>
                    <a:solidFill>
                      <a:srgbClr val="0F233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Primarily tailored for cloud APIs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Primarily tailored for cloud APIs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Segoe UI"/>
              </a:defRPr>
            </a:pPr>
            <a:r>
              <a:t>PROJECT SUMMARY &amp; VIVA DEFENSE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Conclusion &amp; Future Scope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Key Project Achievements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Architectural Invariant Upheld: </a:t>
            </a:r>
            <a:r>
              <a:rPr b="0" sz="1100">
                <a:solidFill>
                  <a:srgbClr val="F8FAFC"/>
                </a:solidFill>
                <a:latin typeface="Segoe UI"/>
              </a:rPr>
              <a:t>Proved that decoupling cognitive routing from mathematical calculation eliminates hallucinations in critical AI tools.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Zero-Code Schema Generation: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Engineered automated reflection pipeline generating robust Pydantic contracts from Scikit-Learn artifacts.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Edge &amp; Offline Resiliency: </a:t>
            </a:r>
            <a:r>
              <a:rPr b="0" sz="1100">
                <a:solidFill>
                  <a:srgbClr val="F8FAFC"/>
                </a:solidFill>
                <a:latin typeface="Segoe UI"/>
              </a:rPr>
              <a:t>Enabled lightweight local models (Ollama qwen2.5:0.5b) to function reliably via bounded self-repair loops.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Production Grade Software: </a:t>
            </a:r>
            <a:r>
              <a:rPr b="0" sz="1100">
                <a:solidFill>
                  <a:srgbClr val="F8FAFC"/>
                </a:solidFill>
                <a:latin typeface="Segoe UI"/>
              </a:rPr>
              <a:t>Delivered complete package with 110 automated tests, Docker generation, and live interactive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0EA5E9"/>
                </a:solidFill>
              </a:defRPr>
            </a:pPr>
            <a:r>
              <a:t>Future Research &amp; Roadmap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Multi-Agent Swarm Collaboration: </a:t>
            </a:r>
            <a:r>
              <a:rPr b="0" sz="1100">
                <a:solidFill>
                  <a:srgbClr val="F8FAFC"/>
                </a:solidFill>
                <a:latin typeface="Segoe UI"/>
              </a:rPr>
              <a:t>Orchestrating specialized sub-agents (e.g. Underwriting Agent + Risk Agent + Compliance Agent) via hierarchical delegation.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Real-Time Streaming Telemetry: </a:t>
            </a:r>
            <a:r>
              <a:rPr b="0" sz="1100">
                <a:solidFill>
                  <a:srgbClr val="F8FAFC"/>
                </a:solidFill>
                <a:latin typeface="Segoe UI"/>
              </a:rPr>
              <a:t>Upgrading UI from polling to Server-Sent Events (SSE) for live token-by-token reasoning streaming.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Continuous Automated Retraining: </a:t>
            </a:r>
            <a:r>
              <a:rPr b="0" sz="1100">
                <a:solidFill>
                  <a:srgbClr val="F8FAFC"/>
                </a:solidFill>
                <a:latin typeface="Segoe UI"/>
              </a:rPr>
              <a:t>Adding active learning pipelines where agent audit logs automatically flag model drift and trigger dataset retraining.</a:t>
            </a:r>
          </a:p>
          <a:p>
            <a:pPr>
              <a:spcAft>
                <a:spcPts val="1000"/>
              </a:spcAft>
            </a:pPr>
            <a:r>
              <a:rPr b="1" sz="1300">
                <a:solidFill>
                  <a:srgbClr val="0EA5E9"/>
                </a:solidFill>
                <a:latin typeface="Segoe UI"/>
              </a:rPr>
              <a:t>•  Enterprise Model Registry Connectors: </a:t>
            </a:r>
            <a:r>
              <a:rPr b="0" sz="1100">
                <a:solidFill>
                  <a:srgbClr val="F8FAFC"/>
                </a:solidFill>
                <a:latin typeface="Segoe UI"/>
              </a:rPr>
              <a:t>Direct connectors to MLflow, HuggingFace Hub, and AWS SageMaker endpoints.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